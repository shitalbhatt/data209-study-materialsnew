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D99A2B"/>
                </a:solidFill>
                <a:latin typeface="Calibri"/>
              </a:rPr>
              <a:t>LECTURES 15-16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E275E"/>
                </a:solidFill>
                <a:latin typeface="Cambria"/>
              </a:rPr>
              <a:t>Data Quality, Integration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555B6E"/>
                </a:solidFill>
                <a:latin typeface="Calibri"/>
              </a:rPr>
              <a:t>Four dimensions of quality · Combining sources · Duplicates · Inconsistent encoding · Validation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What we learn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The four dimensions of data quality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How to combine data from multiple sources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How to detect duplicates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How to fix inconsistent encoding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How to write validation rules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The lab that follows runs all of this on a real merged Airbnb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RAW VERSUS CLEAN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Raw data was collected for another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59" cy="32918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1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19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Duplicates, gaps and mixed spellings. Hidden sentinel values like 0, 999 or NA. Often several files with different schemas.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19" y="1828800"/>
            <a:ext cx="5394959" cy="32918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65960"/>
            <a:ext cx="50291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Clean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743200"/>
            <a:ext cx="502919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One row per entity. Gaps explained. One spelling. Sentinels converted to real missing values. One integrated, documented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The rule: audit first, fix second, and re-audit after every fix.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Four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Is the value correct in the real world?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Completeness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Is everything we need present?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Is one fact stored one way everywhere?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5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Validity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Does the value obey the rules?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We look at each in turn, with examples from the New York City Airbnb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Accuracy needs a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Check a value against reality, a trusted source or a peer group.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A private room in Queens listed at $10,000 a night, against a peer median of $59.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A good proxy: the median price of listings with the same borough and room type.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Flag suspicious values rather than deleting them: the true value is unknown, and deleting real rows biases the data.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Decide whether to cap, fix or remove later, once you know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How much is missing,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mi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33044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Measure the missing share per column, and the share of rows with no gap at all: only 79.4% here.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Why? Every listing missing last_review has zero reviews, so the gap is structural, not random.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Coverage matters too: a column can be fully filled and still never contain January or April.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One fact, one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7</a:t>
            </a:r>
          </a:p>
        </p:txBody>
      </p:sp>
      <p:pic>
        <p:nvPicPr>
          <p:cNvPr id="7" name="Picture 6" descr="boroug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294474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Ten labels for five boroughs: lowercase copies sit next to the proper-case ones.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A group by gives ten groups instead of five.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It breaks across rows, across columns (price and price in dollars) and across sources (Manhattan versus manhattan).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Fix: choose one standard form and apply it everywhere.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Write the rules first, test every row against every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754880"/>
                <a:gridCol w="3749039"/>
              </a:tblGrid>
              <a:tr h="457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Rule type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Result in the lab</a:t>
                      </a:r>
                    </a:p>
                  </a:txBody>
                  <a:tcPr>
                    <a:solidFill>
                      <a:srgbClr val="1E27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Range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price &gt;= 0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0 failures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room type is one of three allowed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300 failures (lowercase)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Format / type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price is an integer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passes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Geographic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latitude inside New York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5 failures: real Staten Island listings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Uniqueness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IDs unique, no duplicate rows or columns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latin typeface="Calibri"/>
                        </a:rPr>
                        <a:t>checked after cleaning</a:t>
                      </a:r>
                    </a:p>
                  </a:txBody>
                  <a:tcPr>
                    <a:solidFill>
                      <a:srgbClr val="F2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VALIDITY VERSUS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A value can pass one check and fail the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94959" cy="23774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1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Validity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1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Is it possible? Checked against a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19" y="1828800"/>
            <a:ext cx="5394959" cy="237744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799" y="1965960"/>
            <a:ext cx="502919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Accuracy 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2743200"/>
            <a:ext cx="502919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Is it correct? Checked against reality.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A $10,000 room passes every validity rule and is still wrong.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The five latitude failures are real, so rules need review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1  Match a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Find a shared identifier and check it is unique in each source.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2  Align the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Rename columns so both sources use the same names and types.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3  Resolve conflicts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Where sources disagree, decide which one wins and why.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5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4  Re-audit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Check the merged table for duplicates, gaps and new conflicts.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MERGING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Outer join with an indicator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me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95452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The indicator shows whether each row is in A only, B only, or both.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Compare matched rows field by field: 300 borough conflicts, 300 room type conflicts, 0 price conflicts.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All were case differences only, so keep source A's spelling.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638"/>
                </a:solidFill>
                <a:latin typeface="Calibri"/>
              </a:rPr>
              <a:t>•  Result: 48,895 rows with no duplicates.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DUPLICATES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Three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05200" cy="310896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3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Every column identical: 700 rows in the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828800"/>
            <a:ext cx="3505200" cy="310896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196596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Same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Same ID, other fields differ: 1,000 rows, the 700 copies plus 300 lowercase 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828800"/>
            <a:ext cx="3505200" cy="310896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1965960"/>
            <a:ext cx="313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Near-duplicates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2743200"/>
            <a:ext cx="313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Almost the same after cleaning text, such as the same host with a similar name: 481 candidates.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Exact duplicates can be dropped automatically. Near-duplicates should be reviewed by a person.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INCONSISTENT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Standardise, then re-audit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Strip whitespace, fix the case, and collapse repeated spaces.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For messy codes, use a mapping so BK, Bklyn and brooklyn all become Brooklyn.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But standardising can create new duplicates: after title-casing, the 300 lowercase rows became exact copies of other rows.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638"/>
                </a:solidFill>
                <a:latin typeface="Calibri"/>
              </a:rPr>
              <a:t>•  Order matters, so re-run the audit after every fix.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VALIDATION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One reusable rule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Range rules: price at least zero; availability between 0 and 365.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Type rules: price is an integer.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Uniqueness rules: unique IDs; no duplicate rows or columns.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Set rules: room type and borough in the allowed sets.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Write the rules once and re-run them on every new load.</a:t>
            </a:r>
          </a:p>
          <a:p>
            <a:pPr>
              <a:spcAft>
                <a:spcPts val="10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In the lab, all twelve rules pass after cleaning.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Audit, diagnose, fix,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Shape, types, missing values and duplicates.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Test accuracy, completeness, consistency and validity.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Integrate sources, deduplicate and standardise.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59" y="1828800"/>
            <a:ext cx="2560320" cy="3840480"/>
          </a:xfrm>
          <a:prstGeom prst="rect">
            <a:avLst/>
          </a:prstGeom>
          <a:solidFill>
            <a:srgbClr val="F2F4FB"/>
          </a:solidFill>
          <a:ln>
            <a:solidFill>
              <a:srgbClr val="D5D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1965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B6CB0"/>
                </a:solidFill>
                <a:latin typeface="Calibri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74320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22638"/>
                </a:solidFill>
                <a:latin typeface="Calibri"/>
              </a:rPr>
              <a:t>Re-run the rules, re-audit and document what you did.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E275E"/>
                </a:solidFill>
                <a:latin typeface="Calibri"/>
              </a:rPr>
              <a:t>Document the steps so that someone else can trust and repeat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9A2B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275E"/>
                </a:solidFill>
                <a:latin typeface="Cambria"/>
              </a:rPr>
              <a:t>What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55B6E"/>
                </a:solidFill>
                <a:latin typeface="Calibri"/>
              </a:rPr>
              <a:t>DATA209 · Advanced Exploratory Data Analysis · Dr. Shital Bhatt · Vidyashilp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55B6E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Data quality has four dimensions: accuracy, completeness, consistency and validity.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Validity is checked against rules, accuracy against reality.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Completeness includes why data is missing and which categories never appear.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Integrate sources on a key, align schemas, resolve conflicts, then re-audit.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Standardising can create new duplicates, so re-audit after every fix.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Document the rules and re-run them on every load.</a:t>
            </a:r>
          </a:p>
          <a:p>
            <a:pPr>
              <a:spcAft>
                <a:spcPts val="600"/>
              </a:spcAft>
            </a:pPr>
            <a:r>
              <a:rPr sz="2100">
                <a:solidFill>
                  <a:srgbClr val="222638"/>
                </a:solidFill>
                <a:latin typeface="Calibri"/>
              </a:rPr>
              <a:t>•  Next: the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