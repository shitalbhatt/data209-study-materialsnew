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99A2B"/>
                </a:solidFill>
                <a:latin typeface="Calibri"/>
              </a:rPr>
              <a:t>LECTURES 13-14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E275E"/>
                </a:solidFill>
                <a:latin typeface="Cambria"/>
              </a:rPr>
              <a:t>Data Visualization: From Grammar to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55B6E"/>
                </a:solidFill>
                <a:latin typeface="Calibri"/>
              </a:rPr>
              <a:t>Grammar of Graphics · Good vs misleading charts · Non-numeric data · Dashboards · Storytelling · Preparing Assignment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Five ideas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200">
                <a:solidFill>
                  <a:srgbClr val="2B6CB0"/>
                </a:solidFill>
                <a:latin typeface="Calibri"/>
              </a:rPr>
              <a:t>1 </a:t>
            </a:r>
            <a:r>
              <a:rPr sz="2200">
                <a:solidFill>
                  <a:srgbClr val="222638"/>
                </a:solidFill>
                <a:latin typeface="Calibri"/>
              </a:rPr>
              <a:t>The Grammar of Graphics: building any chart from layers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2B6CB0"/>
                </a:solidFill>
                <a:latin typeface="Calibri"/>
              </a:rPr>
              <a:t>2 </a:t>
            </a:r>
            <a:r>
              <a:rPr sz="2200">
                <a:solidFill>
                  <a:srgbClr val="222638"/>
                </a:solidFill>
                <a:latin typeface="Calibri"/>
              </a:rPr>
              <a:t>Good versus misleading charts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2B6CB0"/>
                </a:solidFill>
                <a:latin typeface="Calibri"/>
              </a:rPr>
              <a:t>3 </a:t>
            </a:r>
            <a:r>
              <a:rPr sz="2200">
                <a:solidFill>
                  <a:srgbClr val="222638"/>
                </a:solidFill>
                <a:latin typeface="Calibri"/>
              </a:rPr>
              <a:t>Visualizing non-numeric data: categories, hierarchies, text, networks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2B6CB0"/>
                </a:solidFill>
                <a:latin typeface="Calibri"/>
              </a:rPr>
              <a:t>4 </a:t>
            </a:r>
            <a:r>
              <a:rPr sz="2200">
                <a:solidFill>
                  <a:srgbClr val="222638"/>
                </a:solidFill>
                <a:latin typeface="Calibri"/>
              </a:rPr>
              <a:t>Dashboard logic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2B6CB0"/>
                </a:solidFill>
                <a:latin typeface="Calibri"/>
              </a:rPr>
              <a:t>5 </a:t>
            </a:r>
            <a:r>
              <a:rPr sz="2200">
                <a:solidFill>
                  <a:srgbClr val="222638"/>
                </a:solidFill>
                <a:latin typeface="Calibri"/>
              </a:rPr>
              <a:t>Storytelling with data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Also prepares you for Assignment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WHY VISUALIZE AT 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Anscombe's quartet: same statistics, four different pictures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anscom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725551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638"/>
                </a:solidFill>
                <a:latin typeface="Calibri"/>
              </a:rPr>
              <a:t>•  Same mean, same variance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38"/>
                </a:solidFill>
                <a:latin typeface="Calibri"/>
              </a:rPr>
              <a:t>•  Same correlation: r = 0.82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38"/>
                </a:solidFill>
                <a:latin typeface="Calibri"/>
              </a:rPr>
              <a:t>•  Same fitted line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38"/>
                </a:solidFill>
                <a:latin typeface="Calibri"/>
              </a:rPr>
              <a:t>•  Yet: a clean trend, a curve, a line with one outlier, a vertical stack with one extreme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5E"/>
                </a:solidFill>
                <a:latin typeface="Calibri"/>
              </a:rPr>
              <a:t>Summary statistics compress, and compression hides structure. Only the picture shows the difference.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GRAMMAR OF 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Every chart is built from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The table you plot.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Aesthetics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Which column controls x, y, colour, size or shape.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The shape that draws the data: points, lines, bars or boxes.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5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Scales · Labels · Theme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Axis ranges, titles, colours and fonts.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5E"/>
                </a:solidFill>
                <a:latin typeface="Calibri"/>
              </a:rPr>
              <a:t>If you can name the layers, you can build or debug any chart.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VISUAL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Not all channels are equally accurate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619461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8288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638"/>
                </a:solidFill>
                <a:latin typeface="Calibri"/>
              </a:rPr>
              <a:t>•  People judge position on a common scale best, then length, then angle and slope, then area, and colour intensity least precisely.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38"/>
                </a:solidFill>
                <a:latin typeface="Calibri"/>
              </a:rPr>
              <a:t>•  That is why bar charts and dot plots beat pie charts for comparing values.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38"/>
                </a:solidFill>
                <a:latin typeface="Calibri"/>
              </a:rPr>
              <a:t>•  Put your most important comparison on the most accurate channel.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CHOOSING THE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Pick the chart from the question you are 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21208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E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Chart</a:t>
                      </a:r>
                    </a:p>
                  </a:txBody>
                  <a:tcPr>
                    <a:solidFill>
                      <a:srgbClr val="1E27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How is one number distributed?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Histogram, density or box plot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How do two numbers relate?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Scatter 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How does a number change over time?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Line chart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How do groups compare?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Bar, box or violin 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How do two categories overlap?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Heatmap of a cross-tab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How do parts make a whole?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Calibri"/>
                        </a:rPr>
                        <a:t>Stacked bar or treemap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FACETS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Small multiples: one chart per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fac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45920"/>
            <a:ext cx="9144000" cy="2762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572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22638"/>
                </a:solidFill>
                <a:latin typeface="Calibri"/>
              </a:rPr>
              <a:t>•  Facets repeat the same chart once per group in a grid.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638"/>
                </a:solidFill>
                <a:latin typeface="Calibri"/>
              </a:rPr>
              <a:t>•  Every panel shares the same axes, so groups compare at a glance.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638"/>
                </a:solidFill>
                <a:latin typeface="Calibri"/>
              </a:rPr>
              <a:t>•  One line of code, for example col = the grouping column in seaborn, beats piling many lines or colours onto one cluttered plot.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MISLEADING CHARTS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The truncated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589520" cy="33535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8288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Both charts show exactly the same four numbers.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Left: the axis starts at 95, so a 5% rise looks like a five-fold jump.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Right: the axis starts at zero and shows the true, modest change.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When bars encode a quantity, the axis must start at 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MISLEADING CHARTS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Other ways charts mislead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993392" cy="347472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6276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Dual axes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162763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Two axes can be scaled to fake any correlation.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1828800"/>
            <a:ext cx="1993392" cy="347472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965960"/>
            <a:ext cx="16276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Cherry-picked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063240"/>
            <a:ext cx="162763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Shows only the dates that suit the 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1828800"/>
            <a:ext cx="1993392" cy="347472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965960"/>
            <a:ext cx="16276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Distorted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3063240"/>
            <a:ext cx="162763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Doubling a circle's radius quadruples its area.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1775" y="1828800"/>
            <a:ext cx="1993392" cy="347472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5" y="1965960"/>
            <a:ext cx="16276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Clutter and 3-D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5" y="3063240"/>
            <a:ext cx="162763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Hide the data and bend the values.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19488" y="1828800"/>
            <a:ext cx="1993392" cy="347472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7" y="1965960"/>
            <a:ext cx="16276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Missing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7" y="3063240"/>
            <a:ext cx="162763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No baseline, sample size or source leaves viewers guessing.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HONEST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Principles of an honest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Start bar charts at zero; line charts may zoom, but say so.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Label axes with units and give an informative title.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Use colour with purpose, and check it works for colour-blind readers.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Remove decoration that carries no data: heavy gridlines, 3-D and shadows.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Always show the sample size and the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NON-NUMERIC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Mean and correlation do not apply to categories, hierarchies or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>
                    <a:solidFill>
                      <a:srgbClr val="1E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Natural chart</a:t>
                      </a:r>
                    </a:p>
                  </a:txBody>
                  <a:tcPr>
                    <a:solidFill>
                      <a:srgbClr val="1E27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Categories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Sorted bar chart (sort by value, not alphabetically)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Hierarchies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Treemap: area shows share, nesting shows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Text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Word-frequency bar chart (better than a word cloud)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Network diagram: nodes are items, edges are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DASHBOARD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A dashboard is several panels sharing one figure, built around a single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20852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8288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Start with the audience and the decision.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Key numbers first, in a row of KPI cards.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Then a trend, a breakdown and one comparison.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Same colours, scales and filters across panels.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Fewer panels, each with a clear job.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STORYTELLING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Turn a chart into a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Insight titles: write Central's discount stands out, not Discount by region.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Highlight one thing: gray out the rest and colour the bar that matters.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Annotate the key moment directly on the chart.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Declutter: remove everything that does not support the message.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STORY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Context, Conflict,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05200" cy="329184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3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3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What is the situation, and why does it matter?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828800"/>
            <a:ext cx="3505200" cy="329184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1965960"/>
            <a:ext cx="313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Conflict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What did the data reveal that is surprising or wrong?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828800"/>
            <a:ext cx="3505200" cy="329184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1965960"/>
            <a:ext cx="313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2743200"/>
            <a:ext cx="313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What action do you recommend, and what will it change?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5E"/>
                </a:solidFill>
                <a:latin typeface="Calibri"/>
              </a:rPr>
              <a:t>Every chart in your presentation should serve one of these three parts.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ASSIGNMENT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How to structure your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Problem statement: the question, the unit of observation and the target.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Data audit: shape, types, missing values, duplicates and hidden zeros.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Univariate and bivariate EDA with honest charts.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Two or three hypotheses, labelled exploratory.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A story: insight titles, one highlighted finding per slide, and a recommendation.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Every chart needs an honest axis, labels with units and an insight title.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What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Statistics hide structure, so always plot. Remember Anscombe's quartet.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Every chart is data, aesthetics, geometry, scales and theme.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Choose the geometry from the question, and use facets for groups.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Start bar axes at zero and avoid decoration that bends the data.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Categories, hierarchies, text and networks each have a natural chart.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Dashboards have one purpose; stories have one message.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638"/>
                </a:solidFill>
                <a:latin typeface="Calibri"/>
              </a:rPr>
              <a:t>•  Next: the lab, where you build all of these in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